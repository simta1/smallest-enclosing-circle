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8" r:id="rId3"/>
    <p:sldId id="259" r:id="rId4"/>
    <p:sldId id="260" r:id="rId5"/>
    <p:sldId id="262" r:id="rId6"/>
    <p:sldId id="261" r:id="rId7"/>
    <p:sldId id="264" r:id="rId8"/>
    <p:sldId id="263" r:id="rId9"/>
    <p:sldId id="265" r:id="rId10"/>
    <p:sldId id="267" r:id="rId11"/>
    <p:sldId id="286" r:id="rId12"/>
    <p:sldId id="289" r:id="rId13"/>
    <p:sldId id="287" r:id="rId14"/>
    <p:sldId id="291" r:id="rId15"/>
    <p:sldId id="292" r:id="rId16"/>
    <p:sldId id="288" r:id="rId17"/>
    <p:sldId id="270" r:id="rId18"/>
    <p:sldId id="266" r:id="rId19"/>
    <p:sldId id="277" r:id="rId20"/>
    <p:sldId id="278" r:id="rId21"/>
    <p:sldId id="271" r:id="rId22"/>
    <p:sldId id="273" r:id="rId23"/>
    <p:sldId id="282" r:id="rId24"/>
    <p:sldId id="284" r:id="rId25"/>
    <p:sldId id="283" r:id="rId26"/>
    <p:sldId id="279" r:id="rId27"/>
    <p:sldId id="280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8A66A-6BD1-435A-D9D6-02DED01E3B26}" v="377" dt="2025-11-02T11:50:18.3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ADF756-7473-43E5-9C62-423E168F5AE2}" type="datetimeFigureOut">
              <a:t>2025-11-02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579577-8D08-44D3-8148-8C2AA7D60F3F}" type="slidenum"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994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>
                <a:latin typeface="Calibri"/>
                <a:ea typeface="Calibri"/>
                <a:cs typeface="Calibri"/>
              </a:rPr>
              <a:t>Collinear point check</a:t>
            </a:r>
            <a:endParaRPr lang="ko-KR" altLang="en-US" dirty="0">
              <a:latin typeface="맑은 고딕" panose="020B0503020000020004" pitchFamily="34" charset="-127"/>
              <a:ea typeface="맑은 고딕" panose="020B0503020000020004" pitchFamily="34" charset="-127"/>
              <a:cs typeface="Calibri"/>
            </a:endParaRPr>
          </a:p>
          <a:p>
            <a:r>
              <a:rPr lang="en-US" altLang="ko-KR" dirty="0" err="1">
                <a:latin typeface="Calibri"/>
                <a:ea typeface="Calibri"/>
                <a:cs typeface="Calibri"/>
              </a:rPr>
              <a:t>Dist</a:t>
            </a:r>
            <a:r>
              <a:rPr lang="en-US" altLang="ko-KR" dirty="0">
                <a:latin typeface="Calibri"/>
                <a:ea typeface="Calibri"/>
                <a:cs typeface="Calibri"/>
              </a:rPr>
              <a:t> sq</a:t>
            </a:r>
          </a:p>
          <a:p>
            <a:endParaRPr lang="en-US" altLang="ko-KR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579577-8D08-44D3-8148-8C2AA7D60F3F}" type="slidenum"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9433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66825D-2B69-4989-8861-A6901ABADB6C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simta1.github.io/Smallest-Enclosing-Circle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acmicpc.net/problem/2389" TargetMode="External"/><Relationship Id="rId4" Type="http://schemas.openxmlformats.org/officeDocument/2006/relationships/hyperlink" Target="http://boj.kr/e9171f71b0db43e3bdb48d7e0a74d69d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dspace.mit.edu/bitstream/handle/1721.1/4015/HPCES024.pdf?sequence=2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7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 err="1">
                <a:ea typeface="+mj-lt"/>
                <a:cs typeface="+mj-lt"/>
              </a:rPr>
              <a:t>Smallest</a:t>
            </a:r>
            <a:r>
              <a:rPr lang="ko-KR" altLang="en-US" dirty="0">
                <a:ea typeface="+mj-lt"/>
                <a:cs typeface="+mj-lt"/>
              </a:rPr>
              <a:t> </a:t>
            </a:r>
            <a:r>
              <a:rPr lang="ko-KR" altLang="en-US" dirty="0" err="1">
                <a:ea typeface="+mj-lt"/>
                <a:cs typeface="+mj-lt"/>
              </a:rPr>
              <a:t>Enclosing</a:t>
            </a:r>
            <a:r>
              <a:rPr lang="ko-KR" altLang="en-US" dirty="0">
                <a:ea typeface="+mj-lt"/>
                <a:cs typeface="+mj-lt"/>
              </a:rPr>
              <a:t> </a:t>
            </a:r>
            <a:r>
              <a:rPr lang="ko-KR" altLang="en-US" dirty="0" err="1">
                <a:ea typeface="+mj-lt"/>
                <a:cs typeface="+mj-lt"/>
              </a:rPr>
              <a:t>Circle</a:t>
            </a:r>
            <a:br>
              <a:rPr lang="ko-KR" altLang="en-US" dirty="0">
                <a:ea typeface="+mj-lt"/>
                <a:cs typeface="+mj-lt"/>
              </a:rPr>
            </a:br>
            <a:r>
              <a:rPr lang="ko-KR" altLang="en-US" dirty="0">
                <a:ea typeface="+mj-lt"/>
                <a:cs typeface="+mj-lt"/>
              </a:rPr>
              <a:t>(</a:t>
            </a:r>
            <a:r>
              <a:rPr lang="ko-KR" altLang="en-US" dirty="0" err="1">
                <a:ea typeface="+mj-lt"/>
                <a:cs typeface="+mj-lt"/>
              </a:rPr>
              <a:t>최소외접원</a:t>
            </a:r>
            <a:r>
              <a:rPr lang="ko-KR" altLang="en-US" dirty="0">
                <a:ea typeface="+mj-lt"/>
                <a:cs typeface="+mj-lt"/>
              </a:rPr>
              <a:t>)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ko-KR" dirty="0" err="1">
                <a:ea typeface="+mn-lt"/>
                <a:cs typeface="+mn-lt"/>
              </a:rPr>
              <a:t>Subgradient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ko-KR" dirty="0" err="1">
                <a:ea typeface="+mn-lt"/>
                <a:cs typeface="+mn-lt"/>
              </a:rPr>
              <a:t>Method</a:t>
            </a:r>
            <a:endParaRPr lang="ko-KR" dirty="0" err="1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42D9F8-077A-660C-1232-D55EE7DC3C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5445" y="0"/>
            <a:ext cx="8181109" cy="68580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CA88493-6DB3-3606-5937-35A6AB2F7B9A}"/>
              </a:ext>
            </a:extLst>
          </p:cNvPr>
          <p:cNvSpPr/>
          <p:nvPr/>
        </p:nvSpPr>
        <p:spPr>
          <a:xfrm>
            <a:off x="2098109" y="929012"/>
            <a:ext cx="866383" cy="2400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2E0196F-CE7D-8569-F41E-94E9F8C4BCE3}"/>
              </a:ext>
            </a:extLst>
          </p:cNvPr>
          <p:cNvSpPr/>
          <p:nvPr/>
        </p:nvSpPr>
        <p:spPr>
          <a:xfrm>
            <a:off x="2098108" y="83506"/>
            <a:ext cx="511479" cy="18789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70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078F20F5-9918-C9B9-49A2-279102E1F69F}"/>
              </a:ext>
            </a:extLst>
          </p:cNvPr>
          <p:cNvSpPr/>
          <p:nvPr/>
        </p:nvSpPr>
        <p:spPr>
          <a:xfrm>
            <a:off x="3200400" y="157479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9FC381DD-FB83-14DF-CA42-15937B84E638}"/>
              </a:ext>
            </a:extLst>
          </p:cNvPr>
          <p:cNvSpPr/>
          <p:nvPr/>
        </p:nvSpPr>
        <p:spPr>
          <a:xfrm>
            <a:off x="4776591" y="1272086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6D179ECF-C729-73E2-D683-E7C1D06C9FD9}"/>
              </a:ext>
            </a:extLst>
          </p:cNvPr>
          <p:cNvSpPr/>
          <p:nvPr/>
        </p:nvSpPr>
        <p:spPr>
          <a:xfrm>
            <a:off x="3680564" y="2931785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5E01787-B9D3-98F7-8423-12DF3F096457}"/>
              </a:ext>
            </a:extLst>
          </p:cNvPr>
          <p:cNvSpPr/>
          <p:nvPr/>
        </p:nvSpPr>
        <p:spPr>
          <a:xfrm>
            <a:off x="5215001" y="2869154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79A3137-B697-BCDB-7594-BC56D455FACF}"/>
              </a:ext>
            </a:extLst>
          </p:cNvPr>
          <p:cNvSpPr/>
          <p:nvPr/>
        </p:nvSpPr>
        <p:spPr>
          <a:xfrm>
            <a:off x="4713959" y="4664550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780A596A-B357-28FE-6467-1DA9E7CCCAC9}"/>
              </a:ext>
            </a:extLst>
          </p:cNvPr>
          <p:cNvSpPr/>
          <p:nvPr/>
        </p:nvSpPr>
        <p:spPr>
          <a:xfrm>
            <a:off x="7240041" y="257687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9993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557B-44C3-6A6A-4838-365BC815D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타원 6">
            <a:extLst>
              <a:ext uri="{FF2B5EF4-FFF2-40B4-BE49-F238E27FC236}">
                <a16:creationId xmlns:a16="http://schemas.microsoft.com/office/drawing/2014/main" id="{E7F41B7C-B96C-563C-679F-49C00FA6D1FD}"/>
              </a:ext>
            </a:extLst>
          </p:cNvPr>
          <p:cNvSpPr/>
          <p:nvPr/>
        </p:nvSpPr>
        <p:spPr>
          <a:xfrm>
            <a:off x="1047978" y="419414"/>
            <a:ext cx="8491046" cy="848930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F45213E-5073-2B9E-BB58-CC2E862E9CB0}"/>
              </a:ext>
            </a:extLst>
          </p:cNvPr>
          <p:cNvSpPr/>
          <p:nvPr/>
        </p:nvSpPr>
        <p:spPr>
          <a:xfrm>
            <a:off x="3200400" y="157479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4EA433CB-391C-023A-B5FD-6A21DA99A00E}"/>
              </a:ext>
            </a:extLst>
          </p:cNvPr>
          <p:cNvSpPr/>
          <p:nvPr/>
        </p:nvSpPr>
        <p:spPr>
          <a:xfrm>
            <a:off x="4776591" y="1272086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A4282871-1EBC-87BB-8D00-43B24B8723D8}"/>
              </a:ext>
            </a:extLst>
          </p:cNvPr>
          <p:cNvSpPr/>
          <p:nvPr/>
        </p:nvSpPr>
        <p:spPr>
          <a:xfrm>
            <a:off x="3680564" y="2931785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A16BE3E-6BA1-14E8-39DC-E4D95170B761}"/>
              </a:ext>
            </a:extLst>
          </p:cNvPr>
          <p:cNvSpPr/>
          <p:nvPr/>
        </p:nvSpPr>
        <p:spPr>
          <a:xfrm>
            <a:off x="5215001" y="2869154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5A0DB4C-1608-8165-308E-E8B672448653}"/>
              </a:ext>
            </a:extLst>
          </p:cNvPr>
          <p:cNvSpPr/>
          <p:nvPr/>
        </p:nvSpPr>
        <p:spPr>
          <a:xfrm>
            <a:off x="4713959" y="4664550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CAB71F1-8375-1C95-DD98-6A63BA31F2AE}"/>
              </a:ext>
            </a:extLst>
          </p:cNvPr>
          <p:cNvSpPr/>
          <p:nvPr/>
        </p:nvSpPr>
        <p:spPr>
          <a:xfrm>
            <a:off x="7240041" y="257687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4657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65259-E248-101C-A51A-832EC5B07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타원 6">
            <a:extLst>
              <a:ext uri="{FF2B5EF4-FFF2-40B4-BE49-F238E27FC236}">
                <a16:creationId xmlns:a16="http://schemas.microsoft.com/office/drawing/2014/main" id="{C4A19819-D455-EBCE-0862-A759C8AC5C98}"/>
              </a:ext>
            </a:extLst>
          </p:cNvPr>
          <p:cNvSpPr/>
          <p:nvPr/>
        </p:nvSpPr>
        <p:spPr>
          <a:xfrm>
            <a:off x="1826365" y="181801"/>
            <a:ext cx="6221434" cy="621969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D5D6510A-061A-5DFB-09DB-DE0B1FE119E0}"/>
              </a:ext>
            </a:extLst>
          </p:cNvPr>
          <p:cNvSpPr/>
          <p:nvPr/>
        </p:nvSpPr>
        <p:spPr>
          <a:xfrm>
            <a:off x="3200400" y="157479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8592F88-7DF2-B343-9D73-70543073C4FF}"/>
              </a:ext>
            </a:extLst>
          </p:cNvPr>
          <p:cNvSpPr/>
          <p:nvPr/>
        </p:nvSpPr>
        <p:spPr>
          <a:xfrm>
            <a:off x="4776591" y="1272086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23867650-A555-3012-2C6B-FE585B57ECEB}"/>
              </a:ext>
            </a:extLst>
          </p:cNvPr>
          <p:cNvSpPr/>
          <p:nvPr/>
        </p:nvSpPr>
        <p:spPr>
          <a:xfrm>
            <a:off x="3680564" y="2931785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F00C8DDB-9132-2124-88F4-FFEECFE99F7D}"/>
              </a:ext>
            </a:extLst>
          </p:cNvPr>
          <p:cNvSpPr/>
          <p:nvPr/>
        </p:nvSpPr>
        <p:spPr>
          <a:xfrm>
            <a:off x="5215001" y="2869154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19617DF-7019-2819-6CFD-D33C46FF6427}"/>
              </a:ext>
            </a:extLst>
          </p:cNvPr>
          <p:cNvSpPr/>
          <p:nvPr/>
        </p:nvSpPr>
        <p:spPr>
          <a:xfrm>
            <a:off x="4713959" y="4664550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145314D-8566-7FBE-FD04-190A19F4F57E}"/>
              </a:ext>
            </a:extLst>
          </p:cNvPr>
          <p:cNvSpPr/>
          <p:nvPr/>
        </p:nvSpPr>
        <p:spPr>
          <a:xfrm>
            <a:off x="7240041" y="257687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06352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DF44C-126C-8881-EA8E-F64496705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타원 6">
            <a:extLst>
              <a:ext uri="{FF2B5EF4-FFF2-40B4-BE49-F238E27FC236}">
                <a16:creationId xmlns:a16="http://schemas.microsoft.com/office/drawing/2014/main" id="{7710543C-3272-2FA9-EB6E-0FB41F2C76A3}"/>
              </a:ext>
            </a:extLst>
          </p:cNvPr>
          <p:cNvSpPr/>
          <p:nvPr/>
        </p:nvSpPr>
        <p:spPr>
          <a:xfrm>
            <a:off x="1826365" y="181801"/>
            <a:ext cx="6221434" cy="621969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7EB1A1F-5DBF-ED09-4B20-35950F0D6976}"/>
              </a:ext>
            </a:extLst>
          </p:cNvPr>
          <p:cNvSpPr/>
          <p:nvPr/>
        </p:nvSpPr>
        <p:spPr>
          <a:xfrm>
            <a:off x="3200400" y="157479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92BB9E4-CDBB-CAA0-7916-7FB7C2EC365A}"/>
              </a:ext>
            </a:extLst>
          </p:cNvPr>
          <p:cNvSpPr/>
          <p:nvPr/>
        </p:nvSpPr>
        <p:spPr>
          <a:xfrm>
            <a:off x="4776591" y="1272086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AA1297B-4C97-6D2E-A5FF-70E4B9660DF3}"/>
              </a:ext>
            </a:extLst>
          </p:cNvPr>
          <p:cNvSpPr/>
          <p:nvPr/>
        </p:nvSpPr>
        <p:spPr>
          <a:xfrm>
            <a:off x="3680564" y="2931785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B104272-D72C-6324-351F-00CB237E3EEE}"/>
              </a:ext>
            </a:extLst>
          </p:cNvPr>
          <p:cNvSpPr/>
          <p:nvPr/>
        </p:nvSpPr>
        <p:spPr>
          <a:xfrm>
            <a:off x="5215001" y="2869154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21A3327-714E-5D10-B6D5-A3B4D7E263CF}"/>
              </a:ext>
            </a:extLst>
          </p:cNvPr>
          <p:cNvSpPr/>
          <p:nvPr/>
        </p:nvSpPr>
        <p:spPr>
          <a:xfrm>
            <a:off x="4713959" y="4664550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EFAB0BD5-E623-2575-9FC4-018EB9FAC199}"/>
              </a:ext>
            </a:extLst>
          </p:cNvPr>
          <p:cNvSpPr/>
          <p:nvPr/>
        </p:nvSpPr>
        <p:spPr>
          <a:xfrm>
            <a:off x="7240041" y="257687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837ADE7A-63D6-167C-16E8-74682FBAFA7F}"/>
              </a:ext>
            </a:extLst>
          </p:cNvPr>
          <p:cNvSpPr/>
          <p:nvPr/>
        </p:nvSpPr>
        <p:spPr>
          <a:xfrm>
            <a:off x="2317977" y="665992"/>
            <a:ext cx="5057951" cy="5031630"/>
          </a:xfrm>
          <a:prstGeom prst="ellips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43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A3473-2897-5EDB-0391-E70E02E8F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타원 6">
            <a:extLst>
              <a:ext uri="{FF2B5EF4-FFF2-40B4-BE49-F238E27FC236}">
                <a16:creationId xmlns:a16="http://schemas.microsoft.com/office/drawing/2014/main" id="{3EC1E4DB-02AC-3D89-468B-56B7374329E3}"/>
              </a:ext>
            </a:extLst>
          </p:cNvPr>
          <p:cNvSpPr/>
          <p:nvPr/>
        </p:nvSpPr>
        <p:spPr>
          <a:xfrm>
            <a:off x="1826365" y="181801"/>
            <a:ext cx="6221434" cy="621969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F285DE8C-04FC-78ED-31B5-DA72E7F8F0C4}"/>
              </a:ext>
            </a:extLst>
          </p:cNvPr>
          <p:cNvSpPr/>
          <p:nvPr/>
        </p:nvSpPr>
        <p:spPr>
          <a:xfrm>
            <a:off x="3200400" y="157479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BAFBEF7-0CA7-D0C2-BF44-395A0817B937}"/>
              </a:ext>
            </a:extLst>
          </p:cNvPr>
          <p:cNvSpPr/>
          <p:nvPr/>
        </p:nvSpPr>
        <p:spPr>
          <a:xfrm>
            <a:off x="4776591" y="1272086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A5C826C8-F122-E0AB-1288-D9F1F3082ABE}"/>
              </a:ext>
            </a:extLst>
          </p:cNvPr>
          <p:cNvSpPr/>
          <p:nvPr/>
        </p:nvSpPr>
        <p:spPr>
          <a:xfrm>
            <a:off x="3680564" y="2931785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638C881-E2D7-1424-DB71-9C90F3C55963}"/>
              </a:ext>
            </a:extLst>
          </p:cNvPr>
          <p:cNvSpPr/>
          <p:nvPr/>
        </p:nvSpPr>
        <p:spPr>
          <a:xfrm>
            <a:off x="5215001" y="2869154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6EACFB0-39F6-CD75-DA8C-33F646A7FE5E}"/>
              </a:ext>
            </a:extLst>
          </p:cNvPr>
          <p:cNvSpPr/>
          <p:nvPr/>
        </p:nvSpPr>
        <p:spPr>
          <a:xfrm>
            <a:off x="4713959" y="4664550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52A9EF31-3BD1-355E-B560-6C166BAB38CA}"/>
              </a:ext>
            </a:extLst>
          </p:cNvPr>
          <p:cNvSpPr/>
          <p:nvPr/>
        </p:nvSpPr>
        <p:spPr>
          <a:xfrm>
            <a:off x="7240041" y="257687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867D5B94-F03E-2CB9-E885-3EE21C0679DF}"/>
              </a:ext>
            </a:extLst>
          </p:cNvPr>
          <p:cNvSpPr/>
          <p:nvPr/>
        </p:nvSpPr>
        <p:spPr>
          <a:xfrm>
            <a:off x="3014428" y="525930"/>
            <a:ext cx="4287758" cy="42614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6DCAB37-6C64-0401-F615-C13EE057E502}"/>
              </a:ext>
            </a:extLst>
          </p:cNvPr>
          <p:cNvSpPr/>
          <p:nvPr/>
        </p:nvSpPr>
        <p:spPr>
          <a:xfrm>
            <a:off x="2317977" y="665992"/>
            <a:ext cx="5057951" cy="5031630"/>
          </a:xfrm>
          <a:prstGeom prst="ellips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9131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C27B7-1DAB-4E19-FAF7-0C4ADB0F8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E818D868-9C7C-1A64-1D16-5DCE90A4D784}"/>
              </a:ext>
            </a:extLst>
          </p:cNvPr>
          <p:cNvSpPr/>
          <p:nvPr/>
        </p:nvSpPr>
        <p:spPr>
          <a:xfrm>
            <a:off x="3200400" y="157479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EDD46AD4-0A36-CFA9-BA78-6CBE69EC4BB5}"/>
              </a:ext>
            </a:extLst>
          </p:cNvPr>
          <p:cNvSpPr/>
          <p:nvPr/>
        </p:nvSpPr>
        <p:spPr>
          <a:xfrm>
            <a:off x="4776591" y="1272086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EAE52DB8-E512-9E23-A20C-F03FA0DFC4A9}"/>
              </a:ext>
            </a:extLst>
          </p:cNvPr>
          <p:cNvSpPr/>
          <p:nvPr/>
        </p:nvSpPr>
        <p:spPr>
          <a:xfrm>
            <a:off x="3680564" y="2931785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8A952E44-2F9E-8F52-205A-C33430DEB8D6}"/>
              </a:ext>
            </a:extLst>
          </p:cNvPr>
          <p:cNvSpPr/>
          <p:nvPr/>
        </p:nvSpPr>
        <p:spPr>
          <a:xfrm>
            <a:off x="5215001" y="2869154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67FE4F53-4936-0D01-E537-E1A9929E324D}"/>
              </a:ext>
            </a:extLst>
          </p:cNvPr>
          <p:cNvSpPr/>
          <p:nvPr/>
        </p:nvSpPr>
        <p:spPr>
          <a:xfrm>
            <a:off x="4713959" y="4664550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E7D15F01-8EF4-99D0-3255-3632184E0DA9}"/>
              </a:ext>
            </a:extLst>
          </p:cNvPr>
          <p:cNvSpPr/>
          <p:nvPr/>
        </p:nvSpPr>
        <p:spPr>
          <a:xfrm>
            <a:off x="7240041" y="257687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4A47A96B-72C2-F959-8F81-9CB688E9218B}"/>
              </a:ext>
            </a:extLst>
          </p:cNvPr>
          <p:cNvSpPr/>
          <p:nvPr/>
        </p:nvSpPr>
        <p:spPr>
          <a:xfrm>
            <a:off x="3014428" y="525930"/>
            <a:ext cx="4287758" cy="42614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236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4F9FEF-F997-690F-4D83-EF8E3432F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ea typeface="맑은 고딕"/>
              </a:rPr>
              <a:t>How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to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solve</a:t>
            </a:r>
            <a:r>
              <a:rPr lang="ko-KR" altLang="en-US" dirty="0">
                <a:ea typeface="맑은 고딕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92038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2978A-B738-02AB-8AD1-46A80098A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414ECB-E136-B6FD-8A33-BA214DF80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ea typeface="맑은 고딕"/>
              </a:rPr>
              <a:t>How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to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solve</a:t>
            </a:r>
            <a:r>
              <a:rPr lang="ko-KR" altLang="en-US" dirty="0">
                <a:ea typeface="맑은 고딕"/>
              </a:rPr>
              <a:t>?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466E5F-C00B-9C51-41B1-E3361DDA8E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ko-KR" dirty="0" err="1">
                <a:ea typeface="+mn-lt"/>
                <a:cs typeface="+mn-lt"/>
              </a:rPr>
              <a:t>Heuristic</a:t>
            </a:r>
            <a:r>
              <a:rPr lang="en-US" altLang="ko-KR" dirty="0">
                <a:ea typeface="+mn-lt"/>
                <a:cs typeface="+mn-lt"/>
              </a:rPr>
              <a:t>....</a:t>
            </a:r>
            <a:endParaRPr lang="ko-KR" altLang="en-US" dirty="0"/>
          </a:p>
        </p:txBody>
      </p:sp>
      <p:pic>
        <p:nvPicPr>
          <p:cNvPr id="4" name="그림 3" descr="사각형, 스크린샷, 직사각형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47A98F-E166-5804-B9D1-B51D27E338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561" y="688258"/>
            <a:ext cx="3040103" cy="5571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90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30E58-0CDF-D10D-9AE8-27C707D23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6FE7299F-FA17-3450-A608-B5501585A210}"/>
              </a:ext>
            </a:extLst>
          </p:cNvPr>
          <p:cNvSpPr/>
          <p:nvPr/>
        </p:nvSpPr>
        <p:spPr>
          <a:xfrm>
            <a:off x="3200400" y="157479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9970AC82-C7E7-64F9-BEF9-C16DF5DBAB6D}"/>
              </a:ext>
            </a:extLst>
          </p:cNvPr>
          <p:cNvSpPr/>
          <p:nvPr/>
        </p:nvSpPr>
        <p:spPr>
          <a:xfrm>
            <a:off x="4776591" y="1272086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5A39DB3-CFAB-964D-D934-311F2695B859}"/>
              </a:ext>
            </a:extLst>
          </p:cNvPr>
          <p:cNvSpPr/>
          <p:nvPr/>
        </p:nvSpPr>
        <p:spPr>
          <a:xfrm>
            <a:off x="3680564" y="2931785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E15297C-132E-D7EE-5392-058F7818DD27}"/>
              </a:ext>
            </a:extLst>
          </p:cNvPr>
          <p:cNvSpPr/>
          <p:nvPr/>
        </p:nvSpPr>
        <p:spPr>
          <a:xfrm>
            <a:off x="5215001" y="2869154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60E6777-41E7-5CE4-3356-CC3D05023EA4}"/>
              </a:ext>
            </a:extLst>
          </p:cNvPr>
          <p:cNvSpPr/>
          <p:nvPr/>
        </p:nvSpPr>
        <p:spPr>
          <a:xfrm>
            <a:off x="4713959" y="4664550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A107BA6-43E8-1BBC-1C0A-737ECB3167CE}"/>
              </a:ext>
            </a:extLst>
          </p:cNvPr>
          <p:cNvSpPr/>
          <p:nvPr/>
        </p:nvSpPr>
        <p:spPr>
          <a:xfrm>
            <a:off x="7240041" y="257687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8612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51219-9CAA-F68C-F47D-4F51786D1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04BFDA31-16B4-4E03-9C07-F4FBB6B70C03}"/>
              </a:ext>
            </a:extLst>
          </p:cNvPr>
          <p:cNvSpPr/>
          <p:nvPr/>
        </p:nvSpPr>
        <p:spPr>
          <a:xfrm>
            <a:off x="3200400" y="157479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10443B0-03E2-E18A-EFE9-1C47A89507A5}"/>
              </a:ext>
            </a:extLst>
          </p:cNvPr>
          <p:cNvSpPr/>
          <p:nvPr/>
        </p:nvSpPr>
        <p:spPr>
          <a:xfrm>
            <a:off x="4776591" y="1272086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DE0332DF-82BC-2F16-2F97-ADB1FAD17FCD}"/>
              </a:ext>
            </a:extLst>
          </p:cNvPr>
          <p:cNvSpPr/>
          <p:nvPr/>
        </p:nvSpPr>
        <p:spPr>
          <a:xfrm>
            <a:off x="3680564" y="2931785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D096632-B186-E9F0-2C0E-A9A75125571B}"/>
              </a:ext>
            </a:extLst>
          </p:cNvPr>
          <p:cNvSpPr/>
          <p:nvPr/>
        </p:nvSpPr>
        <p:spPr>
          <a:xfrm>
            <a:off x="5215001" y="2869154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E37A3A2-2852-BB13-F1FA-3B65023E0A1D}"/>
              </a:ext>
            </a:extLst>
          </p:cNvPr>
          <p:cNvSpPr/>
          <p:nvPr/>
        </p:nvSpPr>
        <p:spPr>
          <a:xfrm>
            <a:off x="4713959" y="4664550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88FFD5CB-52E7-1E67-39C6-C560C625A1F1}"/>
              </a:ext>
            </a:extLst>
          </p:cNvPr>
          <p:cNvSpPr/>
          <p:nvPr/>
        </p:nvSpPr>
        <p:spPr>
          <a:xfrm>
            <a:off x="7240041" y="257687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ACF3B1C-8CFD-689C-DA19-B969775A2F95}"/>
              </a:ext>
            </a:extLst>
          </p:cNvPr>
          <p:cNvSpPr/>
          <p:nvPr/>
        </p:nvSpPr>
        <p:spPr>
          <a:xfrm>
            <a:off x="5181600" y="3388659"/>
            <a:ext cx="143436" cy="14343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6B65BA7D-F95F-5F9C-C001-FE569CF269E5}"/>
              </a:ext>
            </a:extLst>
          </p:cNvPr>
          <p:cNvSpPr txBox="1"/>
          <p:nvPr/>
        </p:nvSpPr>
        <p:spPr>
          <a:xfrm>
            <a:off x="8121041" y="605425"/>
            <a:ext cx="3922734" cy="40011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000">
                <a:ea typeface="맑은 고딕"/>
              </a:rPr>
              <a:t>원의 중심을 고정하고 생각</a:t>
            </a:r>
          </a:p>
        </p:txBody>
      </p:sp>
    </p:spTree>
    <p:extLst>
      <p:ext uri="{BB962C8B-B14F-4D97-AF65-F5344CB8AC3E}">
        <p14:creationId xmlns:p14="http://schemas.microsoft.com/office/powerpoint/2010/main" val="1598642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1B9F0-17C1-202B-2558-A913D7EB2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타원 10">
            <a:extLst>
              <a:ext uri="{FF2B5EF4-FFF2-40B4-BE49-F238E27FC236}">
                <a16:creationId xmlns:a16="http://schemas.microsoft.com/office/drawing/2014/main" id="{0DEBFEF9-41A7-B919-E8A9-865FC1AAC04F}"/>
              </a:ext>
            </a:extLst>
          </p:cNvPr>
          <p:cNvSpPr/>
          <p:nvPr/>
        </p:nvSpPr>
        <p:spPr>
          <a:xfrm>
            <a:off x="2259105" y="448236"/>
            <a:ext cx="5986810" cy="6024281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A32483D6-6FF5-BCB3-0053-02570297BA5E}"/>
              </a:ext>
            </a:extLst>
          </p:cNvPr>
          <p:cNvSpPr/>
          <p:nvPr/>
        </p:nvSpPr>
        <p:spPr>
          <a:xfrm>
            <a:off x="3200400" y="157479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29148E7-7DA7-50A5-44BD-EB17025F5FFB}"/>
              </a:ext>
            </a:extLst>
          </p:cNvPr>
          <p:cNvSpPr/>
          <p:nvPr/>
        </p:nvSpPr>
        <p:spPr>
          <a:xfrm>
            <a:off x="4776591" y="1272086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6C93CA4F-7BDD-3995-FFA6-12233CC45369}"/>
              </a:ext>
            </a:extLst>
          </p:cNvPr>
          <p:cNvSpPr/>
          <p:nvPr/>
        </p:nvSpPr>
        <p:spPr>
          <a:xfrm>
            <a:off x="3680564" y="2931785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4F69730D-5CDA-FA51-960C-FBD64B986441}"/>
              </a:ext>
            </a:extLst>
          </p:cNvPr>
          <p:cNvSpPr/>
          <p:nvPr/>
        </p:nvSpPr>
        <p:spPr>
          <a:xfrm>
            <a:off x="5215001" y="2869154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67E4FBC4-8E16-CAD6-3CC4-832FE61F0144}"/>
              </a:ext>
            </a:extLst>
          </p:cNvPr>
          <p:cNvSpPr/>
          <p:nvPr/>
        </p:nvSpPr>
        <p:spPr>
          <a:xfrm>
            <a:off x="4713959" y="4664550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8DEB411C-3856-A8F4-6255-ECF6524E2648}"/>
              </a:ext>
            </a:extLst>
          </p:cNvPr>
          <p:cNvSpPr/>
          <p:nvPr/>
        </p:nvSpPr>
        <p:spPr>
          <a:xfrm>
            <a:off x="7240041" y="257687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B80446EF-F16C-9557-9452-DC96FCA6DB2C}"/>
              </a:ext>
            </a:extLst>
          </p:cNvPr>
          <p:cNvSpPr/>
          <p:nvPr/>
        </p:nvSpPr>
        <p:spPr>
          <a:xfrm>
            <a:off x="5181600" y="3388659"/>
            <a:ext cx="143436" cy="14343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05736E-57E8-5920-43AB-AF98CA504A89}"/>
              </a:ext>
            </a:extLst>
          </p:cNvPr>
          <p:cNvSpPr txBox="1"/>
          <p:nvPr/>
        </p:nvSpPr>
        <p:spPr>
          <a:xfrm>
            <a:off x="8121041" y="605425"/>
            <a:ext cx="3922734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000" dirty="0">
                <a:ea typeface="맑은 고딕"/>
              </a:rPr>
              <a:t>원의 중심을 고정하고 생각</a:t>
            </a:r>
          </a:p>
          <a:p>
            <a:endParaRPr lang="ko-KR" altLang="en-US" sz="2000" dirty="0">
              <a:ea typeface="맑은 고딕"/>
            </a:endParaRPr>
          </a:p>
          <a:p>
            <a:r>
              <a:rPr lang="ko-KR" altLang="en-US" sz="2000" dirty="0">
                <a:ea typeface="맑은 고딕"/>
              </a:rPr>
              <a:t>해당 지점을 중심으로 하면서 모든 점을 포함하는 원</a:t>
            </a:r>
          </a:p>
        </p:txBody>
      </p:sp>
    </p:spTree>
    <p:extLst>
      <p:ext uri="{BB962C8B-B14F-4D97-AF65-F5344CB8AC3E}">
        <p14:creationId xmlns:p14="http://schemas.microsoft.com/office/powerpoint/2010/main" val="6743113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80D78-43E5-8972-F215-6930C6369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타원 10">
            <a:extLst>
              <a:ext uri="{FF2B5EF4-FFF2-40B4-BE49-F238E27FC236}">
                <a16:creationId xmlns:a16="http://schemas.microsoft.com/office/drawing/2014/main" id="{61F5DE09-77F4-171E-5644-D6BF21F2E440}"/>
              </a:ext>
            </a:extLst>
          </p:cNvPr>
          <p:cNvSpPr/>
          <p:nvPr/>
        </p:nvSpPr>
        <p:spPr>
          <a:xfrm>
            <a:off x="2259105" y="448236"/>
            <a:ext cx="5986810" cy="6024281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EBF387CA-34C2-7CC4-E228-9B428402BA9A}"/>
              </a:ext>
            </a:extLst>
          </p:cNvPr>
          <p:cNvSpPr/>
          <p:nvPr/>
        </p:nvSpPr>
        <p:spPr>
          <a:xfrm>
            <a:off x="3200400" y="157479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7731F08-68C1-9A69-BF3C-E6111FC74BDC}"/>
              </a:ext>
            </a:extLst>
          </p:cNvPr>
          <p:cNvSpPr/>
          <p:nvPr/>
        </p:nvSpPr>
        <p:spPr>
          <a:xfrm>
            <a:off x="4776591" y="1272086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3019D61-C141-A982-31E8-305BD2893917}"/>
              </a:ext>
            </a:extLst>
          </p:cNvPr>
          <p:cNvSpPr/>
          <p:nvPr/>
        </p:nvSpPr>
        <p:spPr>
          <a:xfrm>
            <a:off x="3680564" y="2931785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7D8CB358-091A-FF93-2B0C-5D5EE054EB29}"/>
              </a:ext>
            </a:extLst>
          </p:cNvPr>
          <p:cNvSpPr/>
          <p:nvPr/>
        </p:nvSpPr>
        <p:spPr>
          <a:xfrm>
            <a:off x="5215001" y="2869154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6370A8C-DCFD-AC55-6100-F49F17413CBA}"/>
              </a:ext>
            </a:extLst>
          </p:cNvPr>
          <p:cNvSpPr/>
          <p:nvPr/>
        </p:nvSpPr>
        <p:spPr>
          <a:xfrm>
            <a:off x="4713959" y="4664550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9C79F502-D0CC-FFBA-4E4E-1EEC2C47ED21}"/>
              </a:ext>
            </a:extLst>
          </p:cNvPr>
          <p:cNvSpPr/>
          <p:nvPr/>
        </p:nvSpPr>
        <p:spPr>
          <a:xfrm>
            <a:off x="7240041" y="257687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40E999C-92C8-D0DA-AC84-3C9283F47890}"/>
              </a:ext>
            </a:extLst>
          </p:cNvPr>
          <p:cNvSpPr/>
          <p:nvPr/>
        </p:nvSpPr>
        <p:spPr>
          <a:xfrm>
            <a:off x="5181600" y="3388659"/>
            <a:ext cx="143436" cy="14343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77812B-2E03-ACBD-4A6E-FA8203D1F884}"/>
              </a:ext>
            </a:extLst>
          </p:cNvPr>
          <p:cNvSpPr txBox="1"/>
          <p:nvPr/>
        </p:nvSpPr>
        <p:spPr>
          <a:xfrm>
            <a:off x="8121041" y="605425"/>
            <a:ext cx="3922734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000" dirty="0">
                <a:ea typeface="맑은 고딕"/>
              </a:rPr>
              <a:t>원의 중심을 고정하고 생각</a:t>
            </a:r>
          </a:p>
          <a:p>
            <a:endParaRPr lang="ko-KR" altLang="en-US" sz="2000" dirty="0">
              <a:ea typeface="맑은 고딕"/>
            </a:endParaRPr>
          </a:p>
          <a:p>
            <a:r>
              <a:rPr lang="ko-KR" altLang="en-US" sz="2000" dirty="0">
                <a:ea typeface="맑은 고딕"/>
              </a:rPr>
              <a:t>해당 지점을 중심으로 하면서 모든 점을 포함하는 원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187ACC6A-4733-C1EC-0FAE-8A0960EE7EB0}"/>
              </a:ext>
            </a:extLst>
          </p:cNvPr>
          <p:cNvSpPr/>
          <p:nvPr/>
        </p:nvSpPr>
        <p:spPr>
          <a:xfrm>
            <a:off x="1904200" y="62016"/>
            <a:ext cx="6752944" cy="678628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68129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9168F-2282-21DF-B601-9E328B11B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타원 10">
            <a:extLst>
              <a:ext uri="{FF2B5EF4-FFF2-40B4-BE49-F238E27FC236}">
                <a16:creationId xmlns:a16="http://schemas.microsoft.com/office/drawing/2014/main" id="{FB5C4A9D-D799-36CA-6FE3-93AFD2C210C7}"/>
              </a:ext>
            </a:extLst>
          </p:cNvPr>
          <p:cNvSpPr/>
          <p:nvPr/>
        </p:nvSpPr>
        <p:spPr>
          <a:xfrm>
            <a:off x="2259105" y="448236"/>
            <a:ext cx="5986810" cy="6024281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7228A96-A073-4281-C010-B765D8D410EF}"/>
              </a:ext>
            </a:extLst>
          </p:cNvPr>
          <p:cNvSpPr/>
          <p:nvPr/>
        </p:nvSpPr>
        <p:spPr>
          <a:xfrm>
            <a:off x="3200400" y="157479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E4857304-5316-6FFC-BA19-9D264806C39C}"/>
              </a:ext>
            </a:extLst>
          </p:cNvPr>
          <p:cNvSpPr/>
          <p:nvPr/>
        </p:nvSpPr>
        <p:spPr>
          <a:xfrm>
            <a:off x="4776591" y="1272086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6E6AB310-714E-06B9-EA7F-7BC533B82174}"/>
              </a:ext>
            </a:extLst>
          </p:cNvPr>
          <p:cNvSpPr/>
          <p:nvPr/>
        </p:nvSpPr>
        <p:spPr>
          <a:xfrm>
            <a:off x="3680564" y="2931785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343B7FF-5439-9D12-FE50-2D5611259DE9}"/>
              </a:ext>
            </a:extLst>
          </p:cNvPr>
          <p:cNvSpPr/>
          <p:nvPr/>
        </p:nvSpPr>
        <p:spPr>
          <a:xfrm>
            <a:off x="5215001" y="2869154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34A5478-31FE-9DC4-405F-281167D75112}"/>
              </a:ext>
            </a:extLst>
          </p:cNvPr>
          <p:cNvSpPr/>
          <p:nvPr/>
        </p:nvSpPr>
        <p:spPr>
          <a:xfrm>
            <a:off x="4713959" y="4664550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9EBFC7D-5C56-78EE-3B6E-85F951381AEE}"/>
              </a:ext>
            </a:extLst>
          </p:cNvPr>
          <p:cNvSpPr/>
          <p:nvPr/>
        </p:nvSpPr>
        <p:spPr>
          <a:xfrm>
            <a:off x="7240041" y="257687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68E12AAF-ADD5-8FBF-D01E-81CD153262A5}"/>
              </a:ext>
            </a:extLst>
          </p:cNvPr>
          <p:cNvSpPr/>
          <p:nvPr/>
        </p:nvSpPr>
        <p:spPr>
          <a:xfrm>
            <a:off x="5181600" y="3388659"/>
            <a:ext cx="143436" cy="14343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690E9A-7881-B24E-6A54-A87FDAD889AA}"/>
              </a:ext>
            </a:extLst>
          </p:cNvPr>
          <p:cNvSpPr txBox="1"/>
          <p:nvPr/>
        </p:nvSpPr>
        <p:spPr>
          <a:xfrm>
            <a:off x="8121041" y="605425"/>
            <a:ext cx="3922734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000" dirty="0">
                <a:ea typeface="맑은 고딕"/>
              </a:rPr>
              <a:t>원의 중심을 고정하고 생각</a:t>
            </a:r>
          </a:p>
          <a:p>
            <a:endParaRPr lang="ko-KR" altLang="en-US" sz="2000" dirty="0">
              <a:ea typeface="맑은 고딕"/>
            </a:endParaRPr>
          </a:p>
          <a:p>
            <a:r>
              <a:rPr lang="ko-KR" altLang="en-US" sz="2000" dirty="0">
                <a:ea typeface="맑은 고딕"/>
              </a:rPr>
              <a:t>해당 지점을 중심으로 하면서 모든 점을 포함하는 원</a:t>
            </a:r>
          </a:p>
          <a:p>
            <a:endParaRPr lang="ko-KR" altLang="en-US" sz="2000" dirty="0">
              <a:ea typeface="맑은 고딕"/>
            </a:endParaRPr>
          </a:p>
          <a:p>
            <a:r>
              <a:rPr lang="ko-KR" altLang="en-US" sz="2000" dirty="0">
                <a:ea typeface="맑은 고딕"/>
              </a:rPr>
              <a:t>중에서 가장 작은 원</a:t>
            </a:r>
          </a:p>
        </p:txBody>
      </p:sp>
    </p:spTree>
    <p:extLst>
      <p:ext uri="{BB962C8B-B14F-4D97-AF65-F5344CB8AC3E}">
        <p14:creationId xmlns:p14="http://schemas.microsoft.com/office/powerpoint/2010/main" val="28730811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08A5-F33A-C36A-3722-400505339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타원 10">
            <a:extLst>
              <a:ext uri="{FF2B5EF4-FFF2-40B4-BE49-F238E27FC236}">
                <a16:creationId xmlns:a16="http://schemas.microsoft.com/office/drawing/2014/main" id="{04A1E55C-0B7D-FFE2-FDA4-6F6BA2BD99E7}"/>
              </a:ext>
            </a:extLst>
          </p:cNvPr>
          <p:cNvSpPr/>
          <p:nvPr/>
        </p:nvSpPr>
        <p:spPr>
          <a:xfrm>
            <a:off x="2617693" y="744072"/>
            <a:ext cx="5242740" cy="5280211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865FA9CB-1325-5050-09A5-549BC53ED115}"/>
              </a:ext>
            </a:extLst>
          </p:cNvPr>
          <p:cNvSpPr/>
          <p:nvPr/>
        </p:nvSpPr>
        <p:spPr>
          <a:xfrm>
            <a:off x="3200400" y="157479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83FAF03-C793-A59D-CB6E-6D0EB959F413}"/>
              </a:ext>
            </a:extLst>
          </p:cNvPr>
          <p:cNvSpPr/>
          <p:nvPr/>
        </p:nvSpPr>
        <p:spPr>
          <a:xfrm>
            <a:off x="4776591" y="1272086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B3C41077-CA63-E1A7-FC6D-3DB87A732925}"/>
              </a:ext>
            </a:extLst>
          </p:cNvPr>
          <p:cNvSpPr/>
          <p:nvPr/>
        </p:nvSpPr>
        <p:spPr>
          <a:xfrm>
            <a:off x="3680564" y="2931785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65696443-09F5-7CC5-36F6-E22DBAC88D58}"/>
              </a:ext>
            </a:extLst>
          </p:cNvPr>
          <p:cNvSpPr/>
          <p:nvPr/>
        </p:nvSpPr>
        <p:spPr>
          <a:xfrm>
            <a:off x="5215001" y="2869154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44911FA-389B-E059-A6D7-865157B4A2CC}"/>
              </a:ext>
            </a:extLst>
          </p:cNvPr>
          <p:cNvSpPr/>
          <p:nvPr/>
        </p:nvSpPr>
        <p:spPr>
          <a:xfrm>
            <a:off x="4713959" y="4664550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8714F998-61D7-9271-5CFA-51B4D309B231}"/>
              </a:ext>
            </a:extLst>
          </p:cNvPr>
          <p:cNvSpPr/>
          <p:nvPr/>
        </p:nvSpPr>
        <p:spPr>
          <a:xfrm>
            <a:off x="7240041" y="2576879"/>
            <a:ext cx="140920" cy="14196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6A529D0E-AEF7-B5AE-9E42-099E67DFEECB}"/>
              </a:ext>
            </a:extLst>
          </p:cNvPr>
          <p:cNvSpPr/>
          <p:nvPr/>
        </p:nvSpPr>
        <p:spPr>
          <a:xfrm>
            <a:off x="5181600" y="3388659"/>
            <a:ext cx="143436" cy="14343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73523D-7A37-7DF3-E118-8F686863D809}"/>
              </a:ext>
            </a:extLst>
          </p:cNvPr>
          <p:cNvSpPr txBox="1"/>
          <p:nvPr/>
        </p:nvSpPr>
        <p:spPr>
          <a:xfrm>
            <a:off x="7860082" y="511479"/>
            <a:ext cx="4068870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400" dirty="0">
                <a:ea typeface="맑은 고딕"/>
              </a:rPr>
              <a:t>원을 </a:t>
            </a:r>
            <a:r>
              <a:rPr lang="ko-KR" altLang="en-US" sz="2400" dirty="0" err="1">
                <a:ea typeface="맑은 고딕"/>
              </a:rPr>
              <a:t>줄이다보면</a:t>
            </a:r>
            <a:r>
              <a:rPr lang="ko-KR" altLang="en-US" sz="2400" dirty="0">
                <a:ea typeface="맑은 고딕"/>
              </a:rPr>
              <a:t> 어떤 점과 만나서 더 이상 줄일 수 없게 되는 순간이 온다.</a:t>
            </a:r>
          </a:p>
          <a:p>
            <a:endParaRPr lang="ko-KR" altLang="en-US" sz="2400" dirty="0">
              <a:ea typeface="맑은 고딕"/>
            </a:endParaRPr>
          </a:p>
          <a:p>
            <a:endParaRPr lang="ko-KR" altLang="en-US" sz="2400" dirty="0">
              <a:ea typeface="맑은 고딕"/>
            </a:endParaRPr>
          </a:p>
          <a:p>
            <a:r>
              <a:rPr lang="ko-KR" altLang="en-US" sz="2400" dirty="0">
                <a:ea typeface="맑은 고딕"/>
              </a:rPr>
              <a:t>반지름 &gt;= 원의 중심에서 가장 먼점까지의 거리</a:t>
            </a:r>
          </a:p>
        </p:txBody>
      </p:sp>
    </p:spTree>
    <p:extLst>
      <p:ext uri="{BB962C8B-B14F-4D97-AF65-F5344CB8AC3E}">
        <p14:creationId xmlns:p14="http://schemas.microsoft.com/office/powerpoint/2010/main" val="36742335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B27B9-AF29-3E0E-6FD5-501E03214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78FF60-CC06-D479-0E7F-6A6DBC770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ea typeface="맑은 고딕"/>
              </a:rPr>
              <a:t>How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to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solve</a:t>
            </a:r>
            <a:r>
              <a:rPr lang="ko-KR" altLang="en-US" dirty="0">
                <a:ea typeface="맑은 고딕"/>
              </a:rPr>
              <a:t>?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A2EB5D-26B1-A9F7-2E4D-8F9912750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+mn-lt"/>
                <a:cs typeface="+mn-lt"/>
                <a:hlinkClick r:id="rId2"/>
              </a:rPr>
              <a:t>https://simta1.github.io/Smallest-Enclosing-Circle/</a:t>
            </a:r>
            <a:endParaRPr lang="ko-KR" altLang="en-US">
              <a:ea typeface="맑은 고딕" panose="020B0503020000020004" pitchFamily="34" charset="-127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76671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9C853-1206-805B-7B9B-045068B36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91C1FB-BF1C-03EA-427D-5F3218DF2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ea typeface="맑은 고딕"/>
              </a:rPr>
              <a:t>How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to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solve</a:t>
            </a:r>
            <a:r>
              <a:rPr lang="ko-KR" altLang="en-US" dirty="0">
                <a:ea typeface="맑은 고딕"/>
              </a:rPr>
              <a:t>?</a:t>
            </a:r>
          </a:p>
        </p:txBody>
      </p:sp>
      <p:pic>
        <p:nvPicPr>
          <p:cNvPr id="4" name="내용 개체 틀 3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A68209F-2FA5-3F6E-C70D-D317062802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225" y="1377601"/>
            <a:ext cx="5995628" cy="5408305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5" name="그림 4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25C612-24C5-31FB-75F4-0ED521D2F4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527" y="1376680"/>
            <a:ext cx="5491046" cy="4546600"/>
          </a:xfrm>
          <a:prstGeom prst="rect">
            <a:avLst/>
          </a:prstGeom>
          <a:ln>
            <a:solidFill>
              <a:srgbClr val="00B05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DBAB17-9AC3-0A0A-B946-9DFE36832A11}"/>
              </a:ext>
            </a:extLst>
          </p:cNvPr>
          <p:cNvSpPr txBox="1"/>
          <p:nvPr/>
        </p:nvSpPr>
        <p:spPr>
          <a:xfrm>
            <a:off x="6403340" y="6075680"/>
            <a:ext cx="57658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hlinkClick r:id="rId4"/>
              </a:rPr>
              <a:t>http://boj.kr/e9171f71b0db43e3bdb48d7e0a74d69d</a:t>
            </a:r>
            <a:endParaRPr lang="en-US" altLang="ko-KR" dirty="0">
              <a:ea typeface="맑은 고딕" panose="020B0503020000020004" pitchFamily="34" charset="-127"/>
            </a:endParaRP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C3D5C91E-58DB-5974-36A3-EC233BA6DB6F}"/>
              </a:ext>
            </a:extLst>
          </p:cNvPr>
          <p:cNvSpPr txBox="1"/>
          <p:nvPr/>
        </p:nvSpPr>
        <p:spPr>
          <a:xfrm>
            <a:off x="6400800" y="6416040"/>
            <a:ext cx="6096000" cy="369332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hlinkClick r:id="rId5"/>
              </a:rPr>
              <a:t>https://www.acmicpc.net/problem/2389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462087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F9D77-F96D-C4EB-4CDA-176D07F42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FCE2FC-D5E3-4D73-030C-A48586C2C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dirty="0" err="1">
                <a:ea typeface="+mj-lt"/>
                <a:cs typeface="+mj-lt"/>
              </a:rPr>
              <a:t>Why</a:t>
            </a:r>
            <a:r>
              <a:rPr lang="ko-KR" dirty="0">
                <a:ea typeface="+mj-lt"/>
                <a:cs typeface="+mj-lt"/>
              </a:rPr>
              <a:t> </a:t>
            </a:r>
            <a:r>
              <a:rPr lang="ko-KR" dirty="0" err="1">
                <a:ea typeface="+mj-lt"/>
                <a:cs typeface="+mj-lt"/>
              </a:rPr>
              <a:t>study</a:t>
            </a:r>
            <a:r>
              <a:rPr lang="ko-KR" dirty="0">
                <a:ea typeface="+mj-lt"/>
                <a:cs typeface="+mj-lt"/>
              </a:rPr>
              <a:t> </a:t>
            </a:r>
            <a:r>
              <a:rPr lang="ko-KR" dirty="0" err="1">
                <a:ea typeface="+mj-lt"/>
                <a:cs typeface="+mj-lt"/>
              </a:rPr>
              <a:t>this</a:t>
            </a:r>
            <a:r>
              <a:rPr lang="ko-KR" dirty="0">
                <a:ea typeface="+mj-lt"/>
                <a:cs typeface="+mj-lt"/>
              </a:rPr>
              <a:t> </a:t>
            </a:r>
            <a:r>
              <a:rPr lang="ko-KR" dirty="0" err="1">
                <a:ea typeface="+mj-lt"/>
                <a:cs typeface="+mj-lt"/>
              </a:rPr>
              <a:t>algorithm</a:t>
            </a:r>
            <a:r>
              <a:rPr lang="ko-KR" dirty="0">
                <a:ea typeface="+mj-lt"/>
                <a:cs typeface="+mj-lt"/>
              </a:rPr>
              <a:t>?</a:t>
            </a:r>
          </a:p>
        </p:txBody>
      </p:sp>
      <p:pic>
        <p:nvPicPr>
          <p:cNvPr id="6" name="그림 5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2E50FE1-D68D-5E91-CAA5-FDA1E9C6B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5" y="2104667"/>
            <a:ext cx="12103509" cy="312389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30C5718-A75B-F281-571E-1203CEC2B8E3}"/>
              </a:ext>
            </a:extLst>
          </p:cNvPr>
          <p:cNvSpPr/>
          <p:nvPr/>
        </p:nvSpPr>
        <p:spPr>
          <a:xfrm>
            <a:off x="1366513" y="2532167"/>
            <a:ext cx="162667" cy="260229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9343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3BE9C-FD43-3C6E-B9D3-112B75B56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DC565B-7159-7528-F940-573FE154F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dirty="0" err="1">
                <a:ea typeface="+mj-lt"/>
                <a:cs typeface="+mj-lt"/>
              </a:rPr>
              <a:t>Why</a:t>
            </a:r>
            <a:r>
              <a:rPr lang="ko-KR" dirty="0">
                <a:ea typeface="+mj-lt"/>
                <a:cs typeface="+mj-lt"/>
              </a:rPr>
              <a:t> </a:t>
            </a:r>
            <a:r>
              <a:rPr lang="ko-KR" dirty="0" err="1">
                <a:ea typeface="+mj-lt"/>
                <a:cs typeface="+mj-lt"/>
              </a:rPr>
              <a:t>study</a:t>
            </a:r>
            <a:r>
              <a:rPr lang="ko-KR" dirty="0">
                <a:ea typeface="+mj-lt"/>
                <a:cs typeface="+mj-lt"/>
              </a:rPr>
              <a:t> </a:t>
            </a:r>
            <a:r>
              <a:rPr lang="ko-KR" dirty="0" err="1">
                <a:ea typeface="+mj-lt"/>
                <a:cs typeface="+mj-lt"/>
              </a:rPr>
              <a:t>this</a:t>
            </a:r>
            <a:r>
              <a:rPr lang="ko-KR" dirty="0">
                <a:ea typeface="+mj-lt"/>
                <a:cs typeface="+mj-lt"/>
              </a:rPr>
              <a:t> </a:t>
            </a:r>
            <a:r>
              <a:rPr lang="ko-KR" dirty="0" err="1">
                <a:ea typeface="+mj-lt"/>
                <a:cs typeface="+mj-lt"/>
              </a:rPr>
              <a:t>algorithm</a:t>
            </a:r>
            <a:r>
              <a:rPr lang="ko-KR" dirty="0">
                <a:ea typeface="+mj-lt"/>
                <a:cs typeface="+mj-lt"/>
              </a:rPr>
              <a:t>?</a:t>
            </a:r>
          </a:p>
        </p:txBody>
      </p:sp>
      <p:pic>
        <p:nvPicPr>
          <p:cNvPr id="6" name="그림 5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336D2F6-2B29-2822-9641-97C7DBF3E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5" y="2104667"/>
            <a:ext cx="12103509" cy="3123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864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D70A23-6901-3073-B4B5-15DAFBE5A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dirty="0" err="1">
                <a:ea typeface="+mj-lt"/>
                <a:cs typeface="+mj-lt"/>
              </a:rPr>
              <a:t>Why</a:t>
            </a:r>
            <a:r>
              <a:rPr lang="ko-KR" dirty="0">
                <a:ea typeface="+mj-lt"/>
                <a:cs typeface="+mj-lt"/>
              </a:rPr>
              <a:t> </a:t>
            </a:r>
            <a:r>
              <a:rPr lang="ko-KR" dirty="0" err="1">
                <a:ea typeface="+mj-lt"/>
                <a:cs typeface="+mj-lt"/>
              </a:rPr>
              <a:t>it</a:t>
            </a:r>
            <a:r>
              <a:rPr lang="ko-KR" dirty="0">
                <a:ea typeface="+mj-lt"/>
                <a:cs typeface="+mj-lt"/>
              </a:rPr>
              <a:t> </a:t>
            </a:r>
            <a:r>
              <a:rPr lang="ko-KR" dirty="0" err="1">
                <a:ea typeface="+mj-lt"/>
                <a:cs typeface="+mj-lt"/>
              </a:rPr>
              <a:t>works</a:t>
            </a:r>
            <a:endParaRPr lang="ko-KR" dirty="0" err="1"/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8FD1F78D-9B1E-EE20-166F-EECA50DBF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96489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850EF-9854-83E0-9223-973680C26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38EB61-2967-7A89-9298-62CAB8DCB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dirty="0" err="1">
                <a:ea typeface="+mj-lt"/>
                <a:cs typeface="+mj-lt"/>
              </a:rPr>
              <a:t>Why</a:t>
            </a:r>
            <a:r>
              <a:rPr lang="ko-KR" dirty="0">
                <a:ea typeface="+mj-lt"/>
                <a:cs typeface="+mj-lt"/>
              </a:rPr>
              <a:t> </a:t>
            </a:r>
            <a:r>
              <a:rPr lang="ko-KR" dirty="0" err="1">
                <a:ea typeface="+mj-lt"/>
                <a:cs typeface="+mj-lt"/>
              </a:rPr>
              <a:t>it</a:t>
            </a:r>
            <a:r>
              <a:rPr lang="ko-KR" dirty="0">
                <a:ea typeface="+mj-lt"/>
                <a:cs typeface="+mj-lt"/>
              </a:rPr>
              <a:t> </a:t>
            </a:r>
            <a:r>
              <a:rPr lang="ko-KR" dirty="0" err="1">
                <a:ea typeface="+mj-lt"/>
                <a:cs typeface="+mj-lt"/>
              </a:rPr>
              <a:t>works</a:t>
            </a:r>
            <a:endParaRPr lang="ko-KR" dirty="0" err="1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0C04868-99BD-1D40-DF51-9216EE404F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ko-KR" sz="3200" err="1">
                <a:ea typeface="+mn-lt"/>
                <a:cs typeface="+mn-lt"/>
              </a:rPr>
              <a:t>subgradient</a:t>
            </a:r>
            <a:r>
              <a:rPr lang="ko-KR" sz="3200" dirty="0">
                <a:ea typeface="+mn-lt"/>
                <a:cs typeface="+mn-lt"/>
              </a:rPr>
              <a:t> </a:t>
            </a:r>
            <a:r>
              <a:rPr lang="ko-KR" sz="3200" err="1">
                <a:ea typeface="+mn-lt"/>
                <a:cs typeface="+mn-lt"/>
              </a:rPr>
              <a:t>method</a:t>
            </a:r>
            <a:endParaRPr lang="ko-KR" sz="3200">
              <a:ea typeface="+mn-lt"/>
              <a:cs typeface="+mn-lt"/>
            </a:endParaRPr>
          </a:p>
          <a:p>
            <a:endParaRPr lang="ko-KR" dirty="0">
              <a:ea typeface="맑은 고딕"/>
            </a:endParaRPr>
          </a:p>
          <a:p>
            <a:endParaRPr lang="ko-KR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altLang="ko-KR" dirty="0">
                <a:ea typeface="+mn-lt"/>
                <a:cs typeface="+mn-lt"/>
              </a:rPr>
              <a:t>S.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en-US" altLang="ko-KR" dirty="0">
                <a:ea typeface="+mn-lt"/>
                <a:cs typeface="+mn-lt"/>
              </a:rPr>
              <a:t>Xu,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en-US" altLang="ko-KR" i="1" dirty="0">
                <a:ea typeface="+mn-lt"/>
                <a:cs typeface="+mn-lt"/>
              </a:rPr>
              <a:t>Solution</a:t>
            </a:r>
            <a:r>
              <a:rPr lang="ko-KR" i="1" dirty="0">
                <a:ea typeface="+mn-lt"/>
                <a:cs typeface="+mn-lt"/>
              </a:rPr>
              <a:t> </a:t>
            </a:r>
            <a:r>
              <a:rPr lang="en-US" altLang="ko-KR" i="1" dirty="0">
                <a:ea typeface="+mn-lt"/>
                <a:cs typeface="+mn-lt"/>
              </a:rPr>
              <a:t>Methodologies</a:t>
            </a:r>
            <a:r>
              <a:rPr lang="ko-KR" i="1" dirty="0">
                <a:ea typeface="+mn-lt"/>
                <a:cs typeface="+mn-lt"/>
              </a:rPr>
              <a:t> </a:t>
            </a:r>
            <a:r>
              <a:rPr lang="en-US" altLang="ko-KR" i="1" dirty="0">
                <a:ea typeface="+mn-lt"/>
                <a:cs typeface="+mn-lt"/>
              </a:rPr>
              <a:t>for</a:t>
            </a:r>
            <a:r>
              <a:rPr lang="ko-KR" i="1" dirty="0">
                <a:ea typeface="+mn-lt"/>
                <a:cs typeface="+mn-lt"/>
              </a:rPr>
              <a:t> </a:t>
            </a:r>
            <a:r>
              <a:rPr lang="en-US" altLang="ko-KR" i="1" dirty="0">
                <a:ea typeface="+mn-lt"/>
                <a:cs typeface="+mn-lt"/>
              </a:rPr>
              <a:t>the</a:t>
            </a:r>
            <a:r>
              <a:rPr lang="ko-KR" i="1" dirty="0">
                <a:ea typeface="+mn-lt"/>
                <a:cs typeface="+mn-lt"/>
              </a:rPr>
              <a:t> </a:t>
            </a:r>
            <a:r>
              <a:rPr lang="en-US" altLang="ko-KR" i="1" dirty="0">
                <a:ea typeface="+mn-lt"/>
                <a:cs typeface="+mn-lt"/>
              </a:rPr>
              <a:t>Smallest</a:t>
            </a:r>
            <a:r>
              <a:rPr lang="ko-KR" i="1" dirty="0">
                <a:ea typeface="+mn-lt"/>
                <a:cs typeface="+mn-lt"/>
              </a:rPr>
              <a:t> </a:t>
            </a:r>
            <a:r>
              <a:rPr lang="en-US" altLang="ko-KR" i="1" dirty="0">
                <a:ea typeface="+mn-lt"/>
                <a:cs typeface="+mn-lt"/>
              </a:rPr>
              <a:t>Enclosing</a:t>
            </a:r>
            <a:r>
              <a:rPr lang="ko-KR" i="1" dirty="0">
                <a:ea typeface="+mn-lt"/>
                <a:cs typeface="+mn-lt"/>
              </a:rPr>
              <a:t> </a:t>
            </a:r>
            <a:r>
              <a:rPr lang="en-US" altLang="ko-KR" i="1" dirty="0">
                <a:ea typeface="+mn-lt"/>
                <a:cs typeface="+mn-lt"/>
              </a:rPr>
              <a:t>Circle</a:t>
            </a:r>
            <a:r>
              <a:rPr lang="ko-KR" i="1" dirty="0">
                <a:ea typeface="+mn-lt"/>
                <a:cs typeface="+mn-lt"/>
              </a:rPr>
              <a:t> </a:t>
            </a:r>
            <a:r>
              <a:rPr lang="en-US" altLang="ko-KR" i="1" dirty="0">
                <a:ea typeface="+mn-lt"/>
                <a:cs typeface="+mn-lt"/>
              </a:rPr>
              <a:t>Problem</a:t>
            </a:r>
            <a:r>
              <a:rPr lang="en-US" altLang="ko-KR" dirty="0">
                <a:ea typeface="+mn-lt"/>
                <a:cs typeface="+mn-lt"/>
              </a:rPr>
              <a:t>,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en-US" altLang="ko-KR" dirty="0">
                <a:ea typeface="+mn-lt"/>
                <a:cs typeface="+mn-lt"/>
              </a:rPr>
              <a:t>Tech.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en-US" altLang="ko-KR" dirty="0">
                <a:ea typeface="+mn-lt"/>
                <a:cs typeface="+mn-lt"/>
              </a:rPr>
              <a:t>Rep.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en-US" altLang="ko-KR" dirty="0">
                <a:ea typeface="+mn-lt"/>
                <a:cs typeface="+mn-lt"/>
              </a:rPr>
              <a:t>HPCES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en-US" altLang="ko-KR" dirty="0">
                <a:ea typeface="+mn-lt"/>
                <a:cs typeface="+mn-lt"/>
              </a:rPr>
              <a:t>024,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en-US" altLang="ko-KR" dirty="0">
                <a:ea typeface="+mn-lt"/>
                <a:cs typeface="+mn-lt"/>
              </a:rPr>
              <a:t>Massachusetts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en-US" altLang="ko-KR" dirty="0">
                <a:ea typeface="+mn-lt"/>
                <a:cs typeface="+mn-lt"/>
              </a:rPr>
              <a:t>Institute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en-US" altLang="ko-KR" dirty="0">
                <a:ea typeface="+mn-lt"/>
                <a:cs typeface="+mn-lt"/>
              </a:rPr>
              <a:t>of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en-US" altLang="ko-KR" dirty="0">
                <a:ea typeface="+mn-lt"/>
                <a:cs typeface="+mn-lt"/>
              </a:rPr>
              <a:t>Technology,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en-US" altLang="ko-KR" dirty="0">
                <a:ea typeface="+mn-lt"/>
                <a:cs typeface="+mn-lt"/>
              </a:rPr>
              <a:t>2002.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en-US" altLang="ko-KR" dirty="0">
                <a:ea typeface="+mn-lt"/>
                <a:cs typeface="+mn-lt"/>
              </a:rPr>
              <a:t>[Online].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en-US" altLang="ko-KR" dirty="0">
                <a:ea typeface="+mn-lt"/>
                <a:cs typeface="+mn-lt"/>
              </a:rPr>
              <a:t>Available: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en-US" altLang="ko-KR" dirty="0">
                <a:ea typeface="+mn-lt"/>
                <a:cs typeface="+mn-lt"/>
                <a:hlinkClick r:id="rId2"/>
              </a:rPr>
              <a:t>https://dspace.mit.edu/bitstream/handle/1721.1/4015/HPCES024.pdf?sequence=2</a:t>
            </a:r>
            <a:endParaRPr lang="ko-KR" altLang="en-US">
              <a:ea typeface="+mn-lt"/>
              <a:cs typeface="+mn-lt"/>
            </a:endParaRPr>
          </a:p>
          <a:p>
            <a:pPr marL="0" indent="0">
              <a:buNone/>
            </a:pPr>
            <a:endParaRPr lang="en-US" altLang="ko-KR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5901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76A1A2-CBF0-6B42-D981-6D2CF7EC2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ea typeface="맑은 고딕"/>
              </a:rPr>
              <a:t>Subgradient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method</a:t>
            </a:r>
            <a:endParaRPr lang="ko-KR" altLang="en-US" dirty="0" err="1"/>
          </a:p>
        </p:txBody>
      </p:sp>
      <p:pic>
        <p:nvPicPr>
          <p:cNvPr id="17" name="그림 16" descr="폰트, 텍스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C5AF47-7A6F-2442-FC26-6636053688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2823" b="-1250"/>
          <a:stretch>
            <a:fillRect/>
          </a:stretch>
        </p:blipFill>
        <p:spPr>
          <a:xfrm>
            <a:off x="845910" y="3327627"/>
            <a:ext cx="1482288" cy="735704"/>
          </a:xfrm>
          <a:prstGeom prst="rect">
            <a:avLst/>
          </a:prstGeom>
        </p:spPr>
      </p:pic>
      <p:pic>
        <p:nvPicPr>
          <p:cNvPr id="18" name="그림 17" descr="폰트, 텍스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5E18817-BA0D-432E-7494-437EA0229E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481" r="-166" b="-1250"/>
          <a:stretch>
            <a:fillRect/>
          </a:stretch>
        </p:blipFill>
        <p:spPr>
          <a:xfrm>
            <a:off x="908276" y="2338839"/>
            <a:ext cx="4837087" cy="73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2201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5F607-C123-B537-7978-3E5F209D9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80195E-ED61-3FCA-27F9-0756F49B0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7428" y="2350524"/>
            <a:ext cx="6734175" cy="42481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D986A25-94A2-8B01-962D-3A58ABCAF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ea typeface="맑은 고딕"/>
              </a:rPr>
              <a:t>Subgradient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method</a:t>
            </a:r>
            <a:endParaRPr lang="ko-KR" dirty="0" err="1"/>
          </a:p>
        </p:txBody>
      </p:sp>
      <p:pic>
        <p:nvPicPr>
          <p:cNvPr id="4" name="내용 개체 틀 3" descr="폰트, 라인, 화이트, 서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A488DE-5E73-CB89-D2BF-5FF21F7370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628791" y="2098547"/>
            <a:ext cx="3114675" cy="495300"/>
          </a:xfrm>
          <a:prstGeom prst="rect">
            <a:avLst/>
          </a:prstGeom>
        </p:spPr>
      </p:pic>
      <p:pic>
        <p:nvPicPr>
          <p:cNvPr id="3" name="그림 2" descr="폰트, 타이포그래피, 서예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6FA526-BBCF-A081-03FE-4ABF0DF53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120" y="756697"/>
            <a:ext cx="5829300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769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2887F-C232-E029-F094-2D1B71ECC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FAC99-90DC-80BA-11DC-C1283D51D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ea typeface="맑은 고딕"/>
              </a:rPr>
              <a:t>Subgradient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method</a:t>
            </a:r>
            <a:endParaRPr lang="ko-KR" altLang="en-US" dirty="0" err="1"/>
          </a:p>
        </p:txBody>
      </p:sp>
      <p:pic>
        <p:nvPicPr>
          <p:cNvPr id="10" name="그림 9" descr="폰트, 텍스트, 친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A52586D-A1C1-1864-A2A6-1F679770B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035" y="2684052"/>
            <a:ext cx="5467350" cy="752475"/>
          </a:xfrm>
          <a:prstGeom prst="rect">
            <a:avLst/>
          </a:prstGeom>
        </p:spPr>
      </p:pic>
      <p:pic>
        <p:nvPicPr>
          <p:cNvPr id="12" name="그림 11" descr="텍스트, 폰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888EA6-D32D-BAD1-8D47-BF3206DB3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673" y="1716446"/>
            <a:ext cx="4857750" cy="704850"/>
          </a:xfrm>
          <a:prstGeom prst="rect">
            <a:avLst/>
          </a:prstGeom>
        </p:spPr>
      </p:pic>
      <p:pic>
        <p:nvPicPr>
          <p:cNvPr id="13" name="그림 12" descr="폰트, 텍스트, 라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2C86CF3-D586-BF08-066C-AD5782F431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929" y="3629588"/>
            <a:ext cx="8429625" cy="1057275"/>
          </a:xfrm>
          <a:prstGeom prst="rect">
            <a:avLst/>
          </a:prstGeom>
        </p:spPr>
      </p:pic>
      <p:pic>
        <p:nvPicPr>
          <p:cNvPr id="14" name="그림 13" descr="폰트, 도표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5AFF17E-5DDF-36E0-F9FE-464182AE9F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007" y="5213247"/>
            <a:ext cx="5629275" cy="1200150"/>
          </a:xfrm>
          <a:prstGeom prst="rect">
            <a:avLst/>
          </a:prstGeom>
        </p:spPr>
      </p:pic>
      <p:pic>
        <p:nvPicPr>
          <p:cNvPr id="15" name="그림 14" descr="폰트, 친필, 서예, 타이포그래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39EDD6-6CE4-DD9A-2906-FA7786357E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6376" y="5625127"/>
            <a:ext cx="2619375" cy="523875"/>
          </a:xfrm>
          <a:prstGeom prst="rect">
            <a:avLst/>
          </a:prstGeom>
        </p:spPr>
      </p:pic>
      <p:pic>
        <p:nvPicPr>
          <p:cNvPr id="4" name="그림 3" descr="폰트, 텍스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5B9941-26D7-22AA-28A6-00DD918FF66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481" r="-166" b="-1250"/>
          <a:stretch>
            <a:fillRect/>
          </a:stretch>
        </p:blipFill>
        <p:spPr>
          <a:xfrm>
            <a:off x="1461509" y="1681223"/>
            <a:ext cx="4837087" cy="73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3587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D8F614-7CB9-7995-823F-7AF883AF8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ea typeface="맑은 고딕"/>
              </a:rPr>
              <a:t>Tips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for</a:t>
            </a:r>
            <a:r>
              <a:rPr lang="ko-KR" altLang="en-US" dirty="0">
                <a:ea typeface="맑은 고딕"/>
              </a:rPr>
              <a:t> </a:t>
            </a:r>
            <a:r>
              <a:rPr lang="ko-KR" altLang="en-US" dirty="0" err="1">
                <a:ea typeface="맑은 고딕"/>
              </a:rPr>
              <a:t>Geometry</a:t>
            </a:r>
            <a:endParaRPr lang="ko-KR" altLang="en-US" dirty="0" err="1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02D582-FB11-777F-96B9-0367720E9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ko-KR" dirty="0" err="1">
                <a:ea typeface="+mn-lt"/>
                <a:cs typeface="+mn-lt"/>
              </a:rPr>
              <a:t>floating-point</a:t>
            </a:r>
            <a:r>
              <a:rPr lang="ko-KR" dirty="0">
                <a:ea typeface="+mn-lt"/>
                <a:cs typeface="+mn-lt"/>
              </a:rPr>
              <a:t> </a:t>
            </a:r>
            <a:r>
              <a:rPr lang="ko-KR" dirty="0" err="1">
                <a:ea typeface="+mn-lt"/>
                <a:cs typeface="+mn-lt"/>
              </a:rPr>
              <a:t>error</a:t>
            </a:r>
          </a:p>
          <a:p>
            <a:pPr marL="0" indent="0">
              <a:buNone/>
            </a:pPr>
            <a:endParaRPr lang="ko-KR" altLang="en-US" dirty="0">
              <a:ea typeface="+mn-lt"/>
              <a:cs typeface="+mn-lt"/>
            </a:endParaRPr>
          </a:p>
          <a:p>
            <a:pPr marL="0" indent="0">
              <a:buNone/>
            </a:pPr>
            <a:endParaRPr lang="ko-KR" altLang="en-US" dirty="0">
              <a:ea typeface="+mn-lt"/>
              <a:cs typeface="+mn-lt"/>
            </a:endParaRPr>
          </a:p>
          <a:p>
            <a:pPr marL="0" indent="0">
              <a:buNone/>
            </a:pPr>
            <a:endParaRPr lang="ko-KR" altLang="en-US" dirty="0">
              <a:ea typeface="+mn-lt"/>
              <a:cs typeface="+mn-lt"/>
            </a:endParaRPr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1073B0-DE16-09E7-152B-F17C6A64C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964" y="0"/>
            <a:ext cx="31982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9201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F2D865-0CCA-1719-7298-CDC720CD2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487246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와이드스크린</PresentationFormat>
  <Paragraphs>0</Paragraphs>
  <Slides>27</Slides>
  <Notes>1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28" baseType="lpstr">
      <vt:lpstr>Office 테마</vt:lpstr>
      <vt:lpstr>Smallest Enclosing Circle (최소외접원)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How to solve?</vt:lpstr>
      <vt:lpstr>How to solve?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How to solve?</vt:lpstr>
      <vt:lpstr>How to solve?</vt:lpstr>
      <vt:lpstr>Why study this algorithm?</vt:lpstr>
      <vt:lpstr>Why study this algorithm?</vt:lpstr>
      <vt:lpstr>Why it works</vt:lpstr>
      <vt:lpstr>Why it works</vt:lpstr>
      <vt:lpstr>Subgradient method</vt:lpstr>
      <vt:lpstr>Subgradient method</vt:lpstr>
      <vt:lpstr>Subgradient method</vt:lpstr>
      <vt:lpstr>Tips for Geometry</vt:lpstr>
      <vt:lpstr>감사합니다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528</cp:revision>
  <dcterms:created xsi:type="dcterms:W3CDTF">2025-10-26T15:58:18Z</dcterms:created>
  <dcterms:modified xsi:type="dcterms:W3CDTF">2025-11-02T12:05:00Z</dcterms:modified>
</cp:coreProperties>
</file>